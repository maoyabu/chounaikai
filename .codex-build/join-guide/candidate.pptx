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8ca14838b04249" /><Relationship Type="http://schemas.openxmlformats.org/officeDocument/2006/relationships/extended-properties" Target="/docProps/app.xml" Id="R0d4ac905a37849d3" /><Relationship Type="http://schemas.openxmlformats.org/officeDocument/2006/relationships/officeDocument" Target="/ppt/presentation.xml" Id="R25234ef3a9584c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1ba335202b402f"/>
  </p:sldMasterIdLst>
  <p:notesMasterIdLst>
    <p:notesMasterId xmlns:r="http://schemas.openxmlformats.org/officeDocument/2006/relationships" r:id="R6114d9d6d5704ba9"/>
  </p:notesMasterIdLst>
  <p:sldIdLst>
    <p:sldId xmlns:r="http://schemas.openxmlformats.org/officeDocument/2006/relationships" id="256" r:id="Rf6854ceb777f40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8a215200114539" /><Relationship Type="http://schemas.openxmlformats.org/officeDocument/2006/relationships/slideMaster" Target="/ppt/slideMasters/slideMaster1.xml" Id="R3b1ba335202b402f" /><Relationship Type="http://schemas.openxmlformats.org/officeDocument/2006/relationships/notesMaster" Target="/ppt/notesMasters/notesMaster1.xml" Id="R6114d9d6d5704ba9" /><Relationship Type="http://schemas.openxmlformats.org/officeDocument/2006/relationships/presProps" Target="/ppt/presProps.xml" Id="R2891b2a062964054" /><Relationship Type="http://schemas.openxmlformats.org/officeDocument/2006/relationships/tableStyles" Target="/ppt/tableStyles.xml" Id="Rc2eb85fdd4c54861" /><Relationship Type="http://schemas.openxmlformats.org/officeDocument/2006/relationships/slide" Target="/ppt/slides/slide1.xml" Id="Rf6854ceb777f40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e953e2b5eb46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35086fa3f74bbe" /><Relationship Type="http://schemas.openxmlformats.org/officeDocument/2006/relationships/notesMaster" Target="/ppt/notesMasters/notesMaster1.xml" Id="R2a428d7d0b1d49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システムの登録画面、ルート、通知処理をもとに作成。登録時はメール確認リンクを送信。代表者の参加申請は班長・町内管理者へアプリ内通知。一般メンバーの世帯紐付け依頼は世帯主へアプリ内通知し、世帯主確認後は班長と町内管理者へ通知。町内管理者は世帯主確認待ちも直接承認でき、世帯主の確認も完了扱い。参加承認結果は申請者へアプリ内通知。メール通知は全通知ではなく、確認メール以外は通知設定・運用設定により送信される場合があ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31462fa4b45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48acbca94c43ea" /><Relationship Type="http://schemas.openxmlformats.org/officeDocument/2006/relationships/slideLayout" Target="/ppt/slideLayouts/slideLayout1.xml" Id="R335d8c03d85a44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5d8c03d85a44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54f2dc5554fd0" /><Relationship Type="http://schemas.openxmlformats.org/officeDocument/2006/relationships/notesSlide" Target="/ppt/notesSlides/notesSlide1.xml" Id="R8079d30e038640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1FE7554-E52C-4830-A135-478841B1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0CF4F-3868-4198-A9D5-8EF35C5C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D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2550" b="1">
                <a:solidFill>
                  <a:srgbClr val="163D30"/>
                </a:solidFill>
                <a:latin typeface="Hiragino Kaku Gothic ProN"/>
                <a:ea typeface="Hiragino Kaku Gothic ProN"/>
                <a:cs typeface="Hiragino Kaku Gothic ProN"/>
              </a:rPr>
              <a:t>町内会への参加ガイド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FFFCC3-2536-4B7A-9C49-FDA8FE15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904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064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0">
                <a:solidFill>
                  <a:srgbClr val="557064"/>
                </a:solidFill>
                <a:latin typeface="Hiragino Kaku Gothic ProN"/>
                <a:ea typeface="Hiragino Kaku Gothic ProN"/>
                <a:cs typeface="Hiragino Kaku Gothic ProN"/>
              </a:rPr>
              <a:t>会員登録から参加申請まで  メールを確認しながら進めます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DDE4C-1163-4492-B095-A62D8A37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62125"/>
            <a:ext cx="876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B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998BC-82C8-4499-B3CC-DA15FBEE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F8DFA-723C-453C-8CEA-A0B65104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525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8500D-A3EF-4968-A00E-AC144B18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D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63D30"/>
                </a:solidFill>
                <a:latin typeface="Hiragino Kaku Gothic ProN"/>
                <a:ea typeface="Hiragino Kaku Gothic ProN"/>
                <a:cs typeface="Hiragino Kaku Gothic ProN"/>
              </a:rPr>
              <a:t>登録画面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A39AD-8338-40DC-9ECE-18DC4CED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40030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rPr>
              <a:t>ユーザー名・メール</a:t>
            </a:r>
          </a:p>
          <a:p xmlns:a="http://schemas.openxmlformats.org/drawingml/2006/main">
            <a:pPr>
              <a:def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rPr>
              <a:t>パスワードを入力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C77247-C0B2-43C1-96B7-8AE74132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1EB7C7-E55A-4F9F-8D68-E16B6924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525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19AB5-5B52-4FAF-9936-60363B3C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95500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D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63D30"/>
                </a:solidFill>
                <a:latin typeface="Hiragino Kaku Gothic ProN"/>
                <a:ea typeface="Hiragino Kaku Gothic ProN"/>
                <a:cs typeface="Hiragino Kaku Gothic ProN"/>
              </a:rPr>
              <a:t>メール確認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B55FB-6BE6-49E9-AEB2-29EFF32C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0030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rPr>
              <a:t>届いた確認メールの</a:t>
            </a:r>
          </a:p>
          <a:p xmlns:a="http://schemas.openxmlformats.org/drawingml/2006/main">
            <a:pPr>
              <a:def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rPr>
              <a:t>リンクを開く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8C3AA-0ACB-4148-A5DE-694F293E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0EBB5-C5B9-4819-A720-6B2949A6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525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9C487-6670-4B0F-9DC6-9668C5DD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D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63D30"/>
                </a:solidFill>
                <a:latin typeface="Hiragino Kaku Gothic ProN"/>
                <a:ea typeface="Hiragino Kaku Gothic ProN"/>
                <a:cs typeface="Hiragino Kaku Gothic ProN"/>
              </a:rPr>
              <a:t>ログイン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BAFEC-8937-48CF-9282-52415D36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0030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rPr>
              <a:t>登録したメールまたは</a:t>
            </a:r>
          </a:p>
          <a:p xmlns:a="http://schemas.openxmlformats.org/drawingml/2006/main">
            <a:pPr>
              <a:def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rPr>
              <a:t>ユーザー名でログイン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987F7-26AE-4411-A6C9-0F7CD942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4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56346-8D38-4F8E-A460-9FE9BCC5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525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D6BDE4-B44B-451F-A7BC-68FC54BA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D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63D30"/>
                </a:solidFill>
                <a:latin typeface="Hiragino Kaku Gothic ProN"/>
                <a:ea typeface="Hiragino Kaku Gothic ProN"/>
                <a:cs typeface="Hiragino Kaku Gothic ProN"/>
              </a:rPr>
              <a:t>参加申請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76E9CD-575D-4A0B-B2E1-E2D7DBB4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rPr>
              <a:t>町内会・地区・班と</a:t>
            </a:r>
          </a:p>
          <a:p xmlns:a="http://schemas.openxmlformats.org/drawingml/2006/main">
            <a:pPr>
              <a:def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rPr>
              <a:t>世帯情報を入力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43E183-3859-49B2-9051-2F308693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543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A63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A05F2C-C73D-4A46-B759-DC2F2889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5525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6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724356-2B14-47CF-9AD8-36185701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D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63D30"/>
                </a:solidFill>
                <a:latin typeface="Hiragino Kaku Gothic ProN"/>
                <a:ea typeface="Hiragino Kaku Gothic ProN"/>
                <a:cs typeface="Hiragino Kaku Gothic ProN"/>
              </a:rPr>
              <a:t>承認を待つ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1AA234-B447-487C-A8DB-0BB3F651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190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rPr>
              <a:t>班長または町内管理者が</a:t>
            </a:r>
          </a:p>
          <a:p xmlns:a="http://schemas.openxmlformats.org/drawingml/2006/main">
            <a:pPr>
              <a:def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rPr>
              <a:t>参加を承認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6EDEA-711E-40B9-9558-D79E7997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D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7C4DEF-822F-4923-8CA2-D5DEB29D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D3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500" b="1">
                <a:solidFill>
                  <a:srgbClr val="163D30"/>
                </a:solidFill>
                <a:latin typeface="Hiragino Kaku Gothic ProN"/>
                <a:ea typeface="Hiragino Kaku Gothic ProN"/>
                <a:cs typeface="Hiragino Kaku Gothic ProN"/>
              </a:rPr>
              <a:t>参加申請画面のイメージ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81EA66-1239-4D59-9A56-6E78AF27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57064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557064"/>
                </a:solidFill>
                <a:latin typeface="Hiragino Kaku Gothic ProN"/>
                <a:ea typeface="Hiragino Kaku Gothic ProN"/>
                <a:cs typeface="Hiragino Kaku Gothic ProN"/>
              </a:rPr>
              <a:t>登録方法で入力欄が切り替わります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3628A8-BBBC-42F1-916D-2BD65DC8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24275"/>
            <a:ext cx="5238750" cy="1895475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2053FC-5214-443A-9F88-B4C803D4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24275"/>
            <a:ext cx="523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1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747C57-3C36-41D7-B7DA-8710E6AA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00" b="1">
                <a:solidFill>
                  <a:srgbClr val="176B4D"/>
                </a:solidFill>
                <a:latin typeface="Hiragino Kaku Gothic ProN"/>
                <a:ea typeface="Hiragino Kaku Gothic ProN"/>
                <a:cs typeface="Hiragino Kaku Gothic ProN"/>
              </a:rPr>
              <a:t>町内会への参加申請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F70751-D12A-463C-A7E8-FA355DCB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rPr>
              <a:t>地区・班を選択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7B2E23-D9CD-493E-931B-1B2CE3E4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162425"/>
            <a:ext cx="2857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CDD8D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CA31CB-EE85-4FEC-AAF3-6086F41B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191000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A7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0">
                <a:solidFill>
                  <a:srgbClr val="667A70"/>
                </a:solidFill>
                <a:latin typeface="Hiragino Kaku Gothic ProN"/>
                <a:ea typeface="Hiragino Kaku Gothic ProN"/>
                <a:cs typeface="Hiragino Kaku Gothic ProN"/>
              </a:rPr>
              <a:t>▼  地区・班を選択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1B4C79-EA91-44A7-85F7-B8DBCC05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76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rPr>
              <a:t>登録方法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8AF7CF-B01C-4B5F-9538-429078ED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543425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FAF8"/>
          </a:solidFill>
          <a:ln xmlns:a="http://schemas.openxmlformats.org/drawingml/2006/main" w="9525">
            <a:solidFill>
              <a:srgbClr val="CDD8D0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78CE5E-AC47-4A55-AE40-57A0DD0A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58152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7A7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0">
                <a:solidFill>
                  <a:srgbClr val="667A70"/>
                </a:solidFill>
                <a:latin typeface="Hiragino Kaku Gothic ProN"/>
                <a:ea typeface="Hiragino Kaku Gothic ProN"/>
                <a:cs typeface="Hiragino Kaku Gothic ProN"/>
              </a:rPr>
              <a:t>世帯主として登録する  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6CEDC4-8992-45EB-AFA6-24C47116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40594F"/>
                </a:solidFill>
                <a:latin typeface="Hiragino Kaku Gothic ProN"/>
                <a:ea typeface="Hiragino Kaku Gothic ProN"/>
                <a:cs typeface="Hiragino Kaku Gothic ProN"/>
              </a:rPr>
              <a:t>メールアドレス  必須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C9A50F-B361-4E4A-8DE5-984134D1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93395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D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4068AD-2D05-4458-A363-89EDF959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72050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87968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0">
                <a:solidFill>
                  <a:srgbClr val="87968F"/>
                </a:solidFill>
                <a:latin typeface="Hiragino Kaku Gothic ProN"/>
                <a:ea typeface="Hiragino Kaku Gothic ProN"/>
                <a:cs typeface="Hiragino Kaku Gothic ProN"/>
              </a:rPr>
              <a:t>name@example.jp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BE25C5-9DB5-4B20-8127-306BF2E7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87064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0">
                <a:solidFill>
                  <a:srgbClr val="587064"/>
                </a:solidFill>
                <a:latin typeface="Hiragino Kaku Gothic ProN"/>
                <a:ea typeface="Hiragino Kaku Gothic ProN"/>
                <a:cs typeface="Hiragino Kaku Gothic ProN"/>
              </a:rPr>
              <a:t>一般メンバーは世帯主メールも入力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0E649A-1907-40E6-AF5F-DAA650B3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24275"/>
            <a:ext cx="2686050" cy="1895475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EAF3ED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69905A-B7E1-4CE6-8FAF-ECAFE648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2238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176B4D"/>
                </a:solidFill>
                <a:latin typeface="Hiragino Kaku Gothic ProN"/>
                <a:ea typeface="Hiragino Kaku Gothic ProN"/>
                <a:cs typeface="Hiragino Kaku Gothic ProN"/>
              </a:rPr>
              <a:t>世帯主として申請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E54280-9C1F-4D2C-9D33-DC46C533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76725"/>
            <a:ext cx="2219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14D4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314D40"/>
                </a:solidFill>
                <a:latin typeface="Hiragino Kaku Gothic ProN"/>
                <a:ea typeface="Hiragino Kaku Gothic ProN"/>
                <a:cs typeface="Hiragino Kaku Gothic ProN"/>
              </a:rPr>
              <a:t>住所・生年月日などを入力</a:t>
            </a:r>
          </a:p>
          <a:p xmlns:a="http://schemas.openxmlformats.org/drawingml/2006/main">
            <a:pPr>
              <a:defRPr sz="1125" b="0">
                <a:solidFill>
                  <a:srgbClr val="314D40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314D40"/>
                </a:solidFill>
                <a:latin typeface="Hiragino Kaku Gothic ProN"/>
                <a:ea typeface="Hiragino Kaku Gothic ProN"/>
                <a:cs typeface="Hiragino Kaku Gothic ProN"/>
              </a:rPr>
              <a:t>申請後、承認されると参加完了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77A695-9694-4FFB-ABC1-36D618A3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91100"/>
            <a:ext cx="2238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BB8B38-F110-45A0-9843-F73FF44E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2047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4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75" b="1">
                <a:solidFill>
                  <a:srgbClr val="176B4D"/>
                </a:solidFill>
                <a:latin typeface="Hiragino Kaku Gothic ProN"/>
                <a:ea typeface="Hiragino Kaku Gothic ProN"/>
                <a:cs typeface="Hiragino Kaku Gothic ProN"/>
              </a:rPr>
              <a:t>通知：承認結果が届きます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92D0C0-2823-4811-A007-21B3BF3E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24275"/>
            <a:ext cx="2724150" cy="1895475"/>
          </a:xfrm>
          <a:prstGeom xmlns:a="http://schemas.openxmlformats.org/drawingml/2006/main" prst="roundRect">
            <a:avLst>
              <a:gd name="adj" fmla="val 4020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3DD2FA-C0E5-42C2-BFE5-4A277C1D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66116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275" b="1">
                <a:solidFill>
                  <a:srgbClr val="966116"/>
                </a:solidFill>
                <a:latin typeface="Hiragino Kaku Gothic ProN"/>
                <a:ea typeface="Hiragino Kaku Gothic ProN"/>
                <a:cs typeface="Hiragino Kaku Gothic ProN"/>
              </a:rPr>
              <a:t>一般メンバーとして申請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C92B10-8EF1-4DB0-915E-5A024358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57675"/>
            <a:ext cx="2324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7472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57472D"/>
                </a:solidFill>
                <a:latin typeface="Hiragino Kaku Gothic ProN"/>
                <a:ea typeface="Hiragino Kaku Gothic ProN"/>
                <a:cs typeface="Hiragino Kaku Gothic ProN"/>
              </a:rPr>
              <a:t>世帯主メールを入力</a:t>
            </a:r>
          </a:p>
          <a:p xmlns:a="http://schemas.openxmlformats.org/drawingml/2006/main">
            <a:pPr>
              <a:defRPr sz="1050" b="0">
                <a:solidFill>
                  <a:srgbClr val="57472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57472D"/>
                </a:solidFill>
                <a:latin typeface="Hiragino Kaku Gothic ProN"/>
                <a:ea typeface="Hiragino Kaku Gothic ProN"/>
                <a:cs typeface="Hiragino Kaku Gothic ProN"/>
              </a:rPr>
              <a:t>世帯主確認後、班長または</a:t>
            </a:r>
          </a:p>
          <a:p xmlns:a="http://schemas.openxmlformats.org/drawingml/2006/main">
            <a:pPr>
              <a:defRPr sz="1050" b="0">
                <a:solidFill>
                  <a:srgbClr val="57472D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0">
                <a:solidFill>
                  <a:srgbClr val="57472D"/>
                </a:solidFill>
                <a:latin typeface="Hiragino Kaku Gothic ProN"/>
                <a:ea typeface="Hiragino Kaku Gothic ProN"/>
                <a:cs typeface="Hiragino Kaku Gothic ProN"/>
              </a:rPr>
              <a:t>町内管理者が承認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9D265A-F663-4991-9382-E942978E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38725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448F26-34B8-47AA-BB1A-ED759A7E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7682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75A13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900" b="1">
                <a:solidFill>
                  <a:srgbClr val="875A13"/>
                </a:solidFill>
                <a:latin typeface="Hiragino Kaku Gothic ProN"/>
                <a:ea typeface="Hiragino Kaku Gothic ProN"/>
                <a:cs typeface="Hiragino Kaku Gothic ProN"/>
              </a:rPr>
              <a:t>管理者承認なら世帯主確認も完了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6A04D2-6D21-4843-9121-BF7A70AF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57875"/>
            <a:ext cx="12192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D30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888AF1-7FDA-495D-87C2-B470BB2D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02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350" b="1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届く通知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F01546-8BE7-40AA-8013-835F6382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0102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D5BE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A9D5BE"/>
                </a:solidFill>
                <a:latin typeface="Hiragino Kaku Gothic ProN"/>
                <a:ea typeface="Hiragino Kaku Gothic ProN"/>
                <a:cs typeface="Hiragino Kaku Gothic ProN"/>
              </a:rPr>
              <a:t>登録時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6339C8-2629-4AD8-A8DA-D8E199BC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2865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確認メール（登録したアドレス）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DBC1DB-A11F-42B6-B1FB-6C070B63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0102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D5BE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A9D5BE"/>
                </a:solidFill>
                <a:latin typeface="Hiragino Kaku Gothic ProN"/>
                <a:ea typeface="Hiragino Kaku Gothic ProN"/>
                <a:cs typeface="Hiragino Kaku Gothic ProN"/>
              </a:rPr>
              <a:t>申請時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18EC393-B3EB-4D72-8551-53E01617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286500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アプリ内通知（班長・町内管理者）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59C2FF-5F8E-4210-867A-65D35AEB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102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9D5BE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050" b="1">
                <a:solidFill>
                  <a:srgbClr val="A9D5BE"/>
                </a:solidFill>
                <a:latin typeface="Hiragino Kaku Gothic ProN"/>
                <a:ea typeface="Hiragino Kaku Gothic ProN"/>
                <a:cs typeface="Hiragino Kaku Gothic ProN"/>
              </a:rPr>
              <a:t>承認後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73E08DB-DD37-49FE-A5F0-0BBDDE9A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2865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defRPr>
            </a:pPr>
            <a:r>
              <a:rPr sz="1125" b="0">
                <a:solidFill>
                  <a:srgbClr val="FFFFFF"/>
                </a:solidFill>
                <a:latin typeface="Hiragino Kaku Gothic ProN"/>
                <a:ea typeface="Hiragino Kaku Gothic ProN"/>
                <a:cs typeface="Hiragino Kaku Gothic ProN"/>
              </a:rPr>
              <a:t>アプリ内通知（申請者）</a:t>
            </a:r>
          </a:p>
        </p:txBody>
      </p:sp>
    </p:spTree>
    <p:extLst>
      <p:ext uri="{BB962C8B-B14F-4D97-AF65-F5344CB8AC3E}">
        <p14:creationId xmlns:p14="http://schemas.microsoft.com/office/powerpoint/2010/main" val="837102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2026-09-30T22:13:50.3140000Z</dcterms:created>
  <dcterms:modified xsi:type="dcterms:W3CDTF">2026-09-30T22:13:50.3140000Z</dcterms:modified>
</coreProperties>
</file>